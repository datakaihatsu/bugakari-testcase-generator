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工数(h)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②テストケース作成</c:v>
                </c:pt>
                <c:pt idx="1">
                  <c:v>①規模感算出・ピックアップ</c:v>
                </c:pt>
                <c:pt idx="2">
                  <c:v>A.歩掛データ作成(実装)</c:v>
                </c:pt>
                <c:pt idx="3">
                  <c:v>B.単価データ作成(実装)</c:v>
                </c:pt>
                <c:pt idx="4">
                  <c:v>H.質問対応</c:v>
                </c:pt>
                <c:pt idx="5">
                  <c:v>Z.分類不能</c:v>
                </c:pt>
                <c:pt idx="6">
                  <c:v>C.経費データ作成(実装)</c:v>
                </c:pt>
                <c:pt idx="7">
                  <c:v>L.Todo・Note</c:v>
                </c:pt>
                <c:pt idx="8">
                  <c:v>J.Gaia/SC反映</c:v>
                </c:pt>
                <c:pt idx="9">
                  <c:v>D.工種データ作成(実装)</c:v>
                </c:pt>
                <c:pt idx="10">
                  <c:v>③条件作成(詳細設計)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3859</c:v>
                </c:pt>
                <c:pt idx="1">
                  <c:v>3836</c:v>
                </c:pt>
                <c:pt idx="2">
                  <c:v>3368</c:v>
                </c:pt>
                <c:pt idx="3">
                  <c:v>975</c:v>
                </c:pt>
                <c:pt idx="4">
                  <c:v>613</c:v>
                </c:pt>
                <c:pt idx="5">
                  <c:v>509</c:v>
                </c:pt>
                <c:pt idx="6">
                  <c:v>469</c:v>
                </c:pt>
                <c:pt idx="7">
                  <c:v>260</c:v>
                </c:pt>
                <c:pt idx="8">
                  <c:v>244</c:v>
                </c:pt>
                <c:pt idx="9">
                  <c:v>235</c:v>
                </c:pt>
                <c:pt idx="10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E-4A9A-AC68-0AA80BB8A6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63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2A3970"/>
          </a:solidFill>
          <a:ln w="12700">
            <a:solidFill>
              <a:srgbClr val="2A397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  /  2026.05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歩掛</a:t>
            </a:r>
            <a:r>
              <a:rPr lang="en-US" sz="42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</a:t>
            </a: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生産性 200% 達成プラン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Redmine 工数分析に基づく 3つのターゲットと実行計画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8872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規模感算出・該当工種選定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0" y="4297680"/>
            <a:ext cx="73152" cy="1371600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84632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8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テストケース作成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29600" y="4297680"/>
            <a:ext cx="73152" cy="1371600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503920" y="4297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8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条件作成(J条件/詳細設計)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報告者: imoo  /  対象期間: 2025/03 – 2026/02 (12ヶ月)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本日の報告内容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分析サマリ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Redmine 工数1年分から特定した 3つのターゲット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工数分析の詳細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2402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①〜③ の占有率と他カテゴリの内訳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2834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生産性200%の根拠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削減シミュレーションと達成可能性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410712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5448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スケジュール叩き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13ヶ月の全体ロードマップとマイルストーン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05072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54480" y="4023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①②の上期Todo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5月末〜下期入りまでに検討・実行する事項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599432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554480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③の下期Todo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46177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下期から着手する J条件・詳細設計の検討事項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193792"/>
            <a:ext cx="10972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40080" y="52120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554480" y="5212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リスクと推進体制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0" y="52120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想定リスクと2名体制でのカバー方針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ANALYSIS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Redmine 1年分の工数分析で 3つのターゲットを特定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①+②  </a:t>
            </a:r>
            <a:r>
              <a:rPr lang="en-US" sz="1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で全工数の </a:t>
            </a: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53.4%</a:t>
            </a:r>
            <a:r>
              <a:rPr lang="en-US" sz="18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 ③は </a:t>
            </a:r>
            <a:r>
              <a:rPr lang="en-US" sz="28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0.4%</a:t>
            </a:r>
            <a:r>
              <a:rPr lang="en-US" sz="14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(未着手のため)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仮説どおり ①〜③ が改善ターゲットとして妥当。同等以上の塊は他に無し (A.歩掛データ作成 23%は実装作業で性質が異なる)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6576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55448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規模感算出・該当工種選定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3,836h / 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26.4%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73152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全工数に占める割合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資料の見比べ・拾い出し・ピックアップ。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sekkei-copilot が解決中の領域。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301752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251960" y="3017520"/>
            <a:ext cx="3657600" cy="10972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C8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534924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テストケース作成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3,859h / 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C8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26.6%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452628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全工数に占める割合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5715000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617720" y="5806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歩掛 JSON 修正後のシステムテスト準備。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1件で30〜60h かかる重量級が多い。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301752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8046720" y="3017520"/>
            <a:ext cx="3657600" cy="10972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32104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914400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条件作成 (J条件/詳細設計)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63h / 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0.4%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832104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全工数に占める割合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0" y="5715000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8412480" y="5806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現状は暗黙的に他作業に紛れている。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下期から赤本 J条件 模造に着手。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ANALYSIS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工数の構造：①②と『その他46.5%』の中身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4592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72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(h/年・全国＋地域合算)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8952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読み取れること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2011680"/>
            <a:ext cx="54864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77240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①②が双璧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395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1位/2位ともに約26%。3位以下とは大きな差があり、改善余地が最も大きい。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3429000"/>
            <a:ext cx="54864" cy="1188720"/>
          </a:xfrm>
          <a:prstGeom prst="rect">
            <a:avLst/>
          </a:prstGeom>
          <a:solidFill>
            <a:srgbClr val="3D5A9C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777240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A.歩掛データ作成 23%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38130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①②の後工程＝実装作業。改善対象とは性質が異なるが、①②効率化で手戻り削減の波及あり。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4846320"/>
            <a:ext cx="54864" cy="1188720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7772400" y="4846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③は数字上は0.4%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52303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未着手のため計上が少ない。設計判断は暗黙的に他作業に紛れていると推測。J条件模造で形式知化したい。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TARGET 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今期目標『生産性200%』 ─ 達成可能性のシミュレーション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生産性目標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200%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同じ成果物を半分の時間で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846320"/>
            <a:ext cx="2926080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4983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試算結果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1.96 倍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(下記の削減を達成した場合)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削減シナリオ ─ 100時間が約51時間になる試算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057400"/>
            <a:ext cx="54864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ピックアップ自動化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sekkei-copilot 完成形＋プリセット化で 80% 削減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0" y="2194560"/>
            <a:ext cx="169164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0058400" y="2194560"/>
            <a:ext cx="1427744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770632"/>
            <a:ext cx="54864" cy="640080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2770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テストケース自動生成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影響範囲特定＋自動生成 PoC で 80% 削減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58400" y="2907792"/>
            <a:ext cx="169164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058400" y="2907792"/>
            <a:ext cx="1441277" cy="365760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058400" y="2907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-21.3%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483864"/>
            <a:ext cx="54864" cy="640080"/>
          </a:xfrm>
          <a:prstGeom prst="rect">
            <a:avLst/>
          </a:prstGeom>
          <a:solidFill>
            <a:srgbClr val="3D5A9C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54880" y="3483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歩掛データ作成(波及)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①②整備による手戻り削減で 30% 削減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058400" y="3621024"/>
            <a:ext cx="169164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0058400" y="3621024"/>
            <a:ext cx="473659" cy="365760"/>
          </a:xfrm>
          <a:prstGeom prst="rect">
            <a:avLst/>
          </a:prstGeom>
          <a:solidFill>
            <a:srgbClr val="3D5A9C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058400" y="36210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-7.0%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4197096"/>
            <a:ext cx="54864" cy="640080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4197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J条件模造(下期)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5171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暗黙化された設計の形式知化(数値より定性価値)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58400" y="4334256"/>
            <a:ext cx="169164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10058400" y="4334256"/>
            <a:ext cx="27066" cy="365760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0058400" y="43342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4910328"/>
            <a:ext cx="54864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4754880" y="4910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 (削減対象外)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54880" y="5230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質問対応・雑タスク・分類不能など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58400" y="5047488"/>
            <a:ext cx="169164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10058400" y="50474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5760720"/>
            <a:ext cx="722376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754880" y="5760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合計削減幅: </a:t>
            </a: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49%</a:t>
            </a: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 残工数 ≈ 51%  →  生産性 ≈ </a:t>
            </a: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1/0.51 = 1.96 倍 (≈200%)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 SCHEDULE DRAFT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スケジュール叩き ─ 13ヶ月のロードマップ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108960" y="1554480"/>
            <a:ext cx="3006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54683" y="1554480"/>
            <a:ext cx="3341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77175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45391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13606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81822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50037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18252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86468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54683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22898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91114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59329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27545" y="1783080"/>
            <a:ext cx="66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2075688"/>
            <a:ext cx="8686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450037" y="2075688"/>
            <a:ext cx="0" cy="4297680"/>
          </a:xfrm>
          <a:prstGeom prst="line">
            <a:avLst/>
          </a:prstGeom>
          <a:noFill/>
          <a:ln w="12700">
            <a:solidFill>
              <a:srgbClr val="9FB8E5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111283" y="2103120"/>
            <a:ext cx="1336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上期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86468" y="2103120"/>
            <a:ext cx="1336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下期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194560"/>
            <a:ext cx="4572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5720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①Webアプリ仕上げ → 安定化 → 継続改善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2359152"/>
            <a:ext cx="8686800" cy="320040"/>
          </a:xfrm>
          <a:prstGeom prst="rect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333340" y="235915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926080" y="269748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37986" y="235915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930726" y="269748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2971800"/>
            <a:ext cx="457200" cy="640080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57200" y="2971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②構想固め → フロー可視化 → 影響範囲 → 自動生成 → 実運用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05840" y="3355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77175" y="3136392"/>
            <a:ext cx="7350369" cy="320040"/>
          </a:xfrm>
          <a:prstGeom prst="rect">
            <a:avLst/>
          </a:prstGeom>
          <a:solidFill>
            <a:srgbClr val="2C8F2D">
              <a:alpha val="75000"/>
            </a:srgbClr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4669770" y="313639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4262511" y="347472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06201" y="313639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598942" y="347472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342632" y="313639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935372" y="347472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M4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679063" y="313639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8271803" y="347472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683709" y="313639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10276449" y="347472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M6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" y="3749040"/>
            <a:ext cx="457200" cy="640080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457200" y="3749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05840" y="3749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③J条件調査 → 模造設計 → E2E PoC → ②連携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0584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50037" y="3913632"/>
            <a:ext cx="5345723" cy="320040"/>
          </a:xfrm>
          <a:prstGeom prst="rect">
            <a:avLst/>
          </a:prstGeom>
          <a:solidFill>
            <a:srgbClr val="E8A30C">
              <a:alpha val="75000"/>
            </a:srgbClr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7342632" y="391363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935372" y="425196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M7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9347278" y="391363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8940018" y="425196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M8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683709" y="391363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10276449" y="425196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M9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1351924" y="391363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10944665" y="425196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" y="4526280"/>
            <a:ext cx="457200" cy="640080"/>
          </a:xfrm>
          <a:prstGeom prst="rect">
            <a:avLst/>
          </a:prstGeom>
          <a:solidFill>
            <a:srgbClr val="3D5A9C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457200" y="4526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005840" y="4526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CI連携 突合せ設計 → デグレ検知PoC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05840" y="4910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S+N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50037" y="4690872"/>
            <a:ext cx="5345723" cy="320040"/>
          </a:xfrm>
          <a:prstGeom prst="rect">
            <a:avLst/>
          </a:prstGeom>
          <a:solidFill>
            <a:srgbClr val="3D5A9C">
              <a:alpha val="75000"/>
            </a:srgbClr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65"/>
          <p:cNvSpPr/>
          <p:nvPr/>
        </p:nvSpPr>
        <p:spPr>
          <a:xfrm>
            <a:off x="8679063" y="469087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8271803" y="502920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M11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1351924" y="4690872"/>
            <a:ext cx="219456" cy="320040"/>
          </a:xfrm>
          <a:prstGeom prst="diamond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10944665" y="5029200"/>
            <a:ext cx="1033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M12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57200" y="5303520"/>
            <a:ext cx="45720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457200" y="5303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005840" y="5303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README/データフロー図/pytest導入/git運用整備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05840" y="5687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S+N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777175" y="5468112"/>
            <a:ext cx="2004646" cy="320040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◆ = マイルストーン (達成条件詳細は次ページTodoと合わせて確認)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 TODO 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上期Todo  ─  sekkei-copilot の安定化と運用展開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規模感算出・該当工種選定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 3,836h (26.4%)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2286000" cy="0"/>
          </a:xfrm>
          <a:prstGeom prst="line">
            <a:avLst/>
          </a:prstGeom>
          <a:noFill/>
          <a:ln w="63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PDF→構造化→工種紐づけ→差分抽出までを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『誰でも実行できる』状態に。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下準備の手間を最小化。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主担当: 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検討・実行する Todo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201168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1168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0116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[実行中] UI再構築 (YSS模造)：ファイルパス指定→同フォルダに結果格納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9556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95560" y="22585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S/外注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25603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931920" y="260604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931920" y="260604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6060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積算基準プリセット化：JSON 3種(setting/pattern/index_pattern)を1クリック選択に統合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95560" y="2606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95560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31920" y="315468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931920" y="320040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931920" y="320040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20040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構造化下準備の改善余地洗い出し：目次抽出失敗ケースの傾向分析→正規表現テンプレ整理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195560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6-7月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95560" y="34472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0" y="37490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3931920" y="379476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3931920" y="379476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79476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代表3〜4基準でゴールデンテスト整備：一般土木・港湾・建築の入出力テストデータを固定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195560" y="3794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195560" y="404164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43434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3931920" y="438912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931920" y="438912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438912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実利用フィードバック収集：1〜2案件で並走運用、操作・出力の課題を収集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95560" y="4389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7-8月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95560" y="4636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931920" y="493776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3931920" y="498348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931920" y="498348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49834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task1.py/task3.py の機能分割：1ファイル1,500行超を機能単位パッケージへ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95560" y="4983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95560" y="5230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31920" y="55321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3931920" y="5577840"/>
            <a:ext cx="640080" cy="5212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3931920" y="557784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T1-7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55778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依存ライブラリの整理：langchain/PyPDF2 を最新系へ更新できる範囲を判定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195560" y="5577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95560" y="58247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31920" y="612648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 TODO 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上期Todo  ─  テストケース自動生成の構想と PoC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0" cy="10972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C8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テストケース作成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 3,859h (26.6%)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2286000" cy="0"/>
          </a:xfrm>
          <a:prstGeom prst="line">
            <a:avLst/>
          </a:prstGeom>
          <a:noFill/>
          <a:ln w="635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歩掛 JSON 修正前後の差分から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影響フローパターンを抽出し、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回帰用も含めシステムテストケースを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自動生成する。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8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主担当: 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検討・実行する Todo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201168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1168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0116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歩掛 JSON の構造調査：実行順=フローがどう表現されているかを N さんが読み解く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9556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95560" y="22585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25603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931920" y="260604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931920" y="260604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6060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②全体のスケジュール可視化：構想.txt の②を WBS 化し、依存関係を明示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95560" y="2606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95560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N+S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31920" y="315468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931920" y="320040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931920" y="320040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20040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スコープ確定：初回は発注者マスタ影響を除外。対象工種の代表1件選定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195560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6-7月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95560" y="34472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N+S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0" y="37490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3931920" y="379476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3931920" y="379476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79476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影響範囲特定アルゴリズムの考案：JSON 構造差分→影響フローパターン抽出ロジック検討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195560" y="3794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195560" y="404164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43434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3931920" y="438912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931920" y="438912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438912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1工種フロー可視化 PoC：JSON 読み込み→フロー図出力 (Mermaid or Graphviz)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95560" y="4389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7-8月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95560" y="4636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931920" y="493776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3931920" y="498348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931920" y="498348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49834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テストケース表現フォーマット定義：③連携 (M10) を見据えた構造化フォーマット合意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95560" y="4983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95560" y="5230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N+S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31920" y="55321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3931920" y="5577840"/>
            <a:ext cx="640080" cy="521208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3931920" y="557784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T2-7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55778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[下期接続] カバレッジ基準の議論：回帰テスト範囲を決める指標を策定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195560" y="5577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9月以降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95560" y="58247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31920" y="612648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TODO 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下期Todo  ─  J条件模造 (詳細設計を不要にする取り組み)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0" cy="10972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条件作成 (J条件/詳細設計)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計上は 0.4% ─ 暗黙化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2286000" cy="0"/>
          </a:xfrm>
          <a:prstGeom prst="line">
            <a:avLst/>
          </a:prstGeom>
          <a:noFill/>
          <a:ln w="635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
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赤本(積算基準)の J条件 を模造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歩掛エディタで歩掛作成可能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② のテストケース生成にも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J条件パターンを利用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3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主担当: S (③設計主体)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検討・実行する Todo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201168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1168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0116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J条件パターンの棚卸し：赤本から代表的な J条件 表記をパターン分類 (NEXCO+一般土木に限定)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9556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95560" y="22585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25603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931920" y="260604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931920" y="260604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6060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J条件 → 歩掛エディタ入力 IF 検討：模造したJ条件から歩掛作成までのデータフロー設計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95560" y="2606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10-11月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95560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31920" y="315468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931920" y="320040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931920" y="320040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20040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②連携フォーマット整合：T2-6 で定めたフォーマットに J条件パターンをマッピング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195560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95560" y="34472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S+N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0" y="37490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3931920" y="379476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3931920" y="379476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79476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模造ロジック設計：表記揺れへの段階対応方針 (NEXCO先行→一般土木拡張)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195560" y="3794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12-1月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195560" y="404164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43434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3931920" y="438912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931920" y="438912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438912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1〜2工種で E2E PoC：J条件抽出→歩掛エディタ自動投入→歩掛作成までを動作確認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95560" y="4389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2-3月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95560" y="4636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931920" y="493776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3931920" y="498348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931920" y="498348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49834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②×③ 連携テスト：J条件パターンから②でテストケース自動生成 (M10達成)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95560" y="4983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3-4月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95560" y="52303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S+N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31920" y="55321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3931920" y="5577840"/>
            <a:ext cx="640080" cy="521208"/>
          </a:xfrm>
          <a:prstGeom prst="rect">
            <a:avLst/>
          </a:prstGeom>
          <a:solidFill>
            <a:srgbClr val="E8A30C"/>
          </a:solidFill>
          <a:ln w="12700">
            <a:solidFill>
              <a:srgbClr val="E8A3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3931920" y="5577840"/>
            <a:ext cx="640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T3-7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55778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[CI構想] 別PJ CI担当と連携：歩掛 JSON 修正→過去設計書突合せのデグレ検知 PoC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195560" y="5577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通期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95560" y="58247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S+N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31920" y="612648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 RISK &amp;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リスクと推進体制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推進体制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 (先進者)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①ドライバー / ③設計主体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上期は①仕上げ。下期は③にウェイト移動。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73152" cy="960120"/>
          </a:xfrm>
          <a:prstGeom prst="rect">
            <a:avLst/>
          </a:prstGeom>
          <a:solidFill>
            <a:srgbClr val="2C8F2D"/>
          </a:solidFill>
          <a:ln w="12700">
            <a:solidFill>
              <a:srgbClr val="2C8F2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 (合流者)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8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②ドライバー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スケジュール可視化から構想を整える。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4123944"/>
            <a:ext cx="73152" cy="960120"/>
          </a:xfrm>
          <a:prstGeom prst="rect">
            <a:avLst/>
          </a:prstGeom>
          <a:solidFill>
            <a:srgbClr val="3D5A9C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4187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489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①実装サポート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764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YSS 模造 UI への改造に協力。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202936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5202936"/>
            <a:ext cx="73152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0080" y="52669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別PJ CI担当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5686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CI連携(下期合流)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843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突合せ基盤の設計合意フェーズで合流。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主要リスクと対策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52160" y="1965960"/>
            <a:ext cx="5943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943600" y="2039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011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①構造化下準備が積算基準ごとに重い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2377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対策: M1でプリセット化必達/初回設定をテンプレ再利用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2834640"/>
            <a:ext cx="5943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94360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8803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②の歩掛JSON仕様の立ち上がりに時間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対策: PoC を1工種に絞る/S が初期レクチャー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52160" y="3703320"/>
            <a:ext cx="5943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943600" y="3776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749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③J条件 表記揺れによる複雑化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対策: 初期スコープを NEXCO+一般土木 限定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52160" y="4572000"/>
            <a:ext cx="5943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94360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4617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②③連携時の整合性問題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4983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対策: M3 で②側フォーマット定義→③が従う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52160" y="5440680"/>
            <a:ext cx="5943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943600" y="5513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54864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5月末完了予定の①が遅延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58521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対策: Nは構想文書化を延長して影響緩衝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設計部門 生産性200%達成プラン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─ 200% に届く確度を持って進める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3108960"/>
          </a:xfrm>
          <a:prstGeom prst="rect">
            <a:avLst/>
          </a:prstGeom>
          <a:solidFill>
            <a:srgbClr val="2A3970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91440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ターゲットは ①〜③ で確定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1年分のRedmine工数分析で①②は1位/2位 (合計53.4%)。③は未着手のため計上少だが暗黙化が判明。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94560"/>
            <a:ext cx="3657600" cy="3108960"/>
          </a:xfrm>
          <a:prstGeom prst="rect">
            <a:avLst/>
          </a:prstGeom>
          <a:solidFill>
            <a:srgbClr val="2A3970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251960" y="2194560"/>
            <a:ext cx="91440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200%は 数理的に届く水準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9776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①②を80%削減＋A波及で30%削減 → 残工数51% ≈ 生産性1.96倍。実装難度はあるが目標として妥当。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657600" cy="3108960"/>
          </a:xfrm>
          <a:prstGeom prst="rect">
            <a:avLst/>
          </a:prstGeom>
          <a:solidFill>
            <a:srgbClr val="2A3970"/>
          </a:solidFill>
          <a:ln w="12700">
            <a:solidFill>
              <a:srgbClr val="3D5A9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046720" y="2194560"/>
            <a:ext cx="91440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971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上期=①②/下期=③ で並走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9776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 は①→③へウェイト移動、N は②専念。M10で②×③連携、M12でCIデグレ検知PoCまで到達計画。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Action ─ 6月初週に①②上期Todoのキックオフ／別PJ CI担当との接点づくり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6263640"/>
            <a:ext cx="22860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ありがとうございました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Microsoft Office PowerPoint</Application>
  <PresentationFormat>ワイド画面</PresentationFormat>
  <Paragraphs>333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設計部門 生産性200%達成プラン</dc:title>
  <dc:subject>PptxGenJS Presentation</dc:subject>
  <dc:creator>imoo</dc:creator>
  <cp:lastModifiedBy>妹尾 徳仁</cp:lastModifiedBy>
  <cp:revision>2</cp:revision>
  <dcterms:created xsi:type="dcterms:W3CDTF">2026-05-19T05:09:03Z</dcterms:created>
  <dcterms:modified xsi:type="dcterms:W3CDTF">2026-05-19T05:27:17Z</dcterms:modified>
</cp:coreProperties>
</file>